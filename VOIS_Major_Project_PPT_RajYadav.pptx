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47" r:id="rId10"/>
    <p:sldId id="339" r:id="rId11"/>
    <p:sldId id="348" r:id="rId12"/>
    <p:sldId id="340" r:id="rId13"/>
    <p:sldId id="344" r:id="rId14"/>
    <p:sldId id="345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C0FA0-E5CB-3F10-60E2-2880F249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6578-23D4-9E86-8DB3-AA863E18C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607D1-3F57-AD37-700C-4F23D5DF5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32E3F-9B8B-5A09-F388-751D10C13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53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6" y="4595452"/>
            <a:ext cx="6289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AICTE STU ID : </a:t>
            </a:r>
            <a:r>
              <a:rPr lang="en-IN" sz="2000" dirty="0">
                <a:solidFill>
                  <a:srgbClr val="00B0F0"/>
                </a:solidFill>
              </a:rPr>
              <a:t>STU68318fe14770b1748078561 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EEC4F-1133-739D-38DC-C3280B43E4A9}"/>
              </a:ext>
            </a:extLst>
          </p:cNvPr>
          <p:cNvSpPr txBox="1"/>
          <p:nvPr/>
        </p:nvSpPr>
        <p:spPr>
          <a:xfrm>
            <a:off x="3355895" y="2927239"/>
            <a:ext cx="5089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Seasonal Agriculture Performance Analysis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FCA7D2-5C3A-6BC6-45BF-CE8A977508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59" y="3530652"/>
            <a:ext cx="7534388" cy="861497"/>
          </a:xfrm>
        </p:spPr>
        <p:txBody>
          <a:bodyPr>
            <a:normAutofit/>
          </a:bodyPr>
          <a:lstStyle/>
          <a:p>
            <a:r>
              <a:rPr lang="en-US" dirty="0"/>
              <a:t>Name – Raj Yadav</a:t>
            </a:r>
          </a:p>
          <a:p>
            <a:r>
              <a:rPr lang="en-US" dirty="0"/>
              <a:t>College – Anand Engineering College Agra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703726" cy="41218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dirty="0"/>
              <a:t>Agricultural performance changes across different seasons, crops, irrigation methods, and regions.</a:t>
            </a:r>
          </a:p>
          <a:p>
            <a:pPr marL="0" indent="0">
              <a:buNone/>
            </a:pPr>
            <a:r>
              <a:rPr lang="en-IN" dirty="0"/>
              <a:t>It is difficult to understand these changes using raw agricultural data.</a:t>
            </a:r>
          </a:p>
          <a:p>
            <a:pPr marL="0" indent="0">
              <a:buNone/>
            </a:pPr>
            <a:r>
              <a:rPr lang="en-IN" b="1" dirty="0"/>
              <a:t>This project aims to:</a:t>
            </a:r>
            <a:endParaRPr lang="en-IN" dirty="0"/>
          </a:p>
          <a:p>
            <a:pPr lvl="0"/>
            <a:r>
              <a:rPr lang="en-IN" dirty="0"/>
              <a:t>Analyze agricultural data using Python. </a:t>
            </a:r>
          </a:p>
          <a:p>
            <a:pPr lvl="0"/>
            <a:r>
              <a:rPr lang="en-IN" dirty="0"/>
              <a:t>Compare crop performance across seasons. </a:t>
            </a:r>
          </a:p>
          <a:p>
            <a:pPr lvl="0"/>
            <a:r>
              <a:rPr lang="en-IN" dirty="0"/>
              <a:t>Study irrigation and water efficiency. </a:t>
            </a:r>
          </a:p>
          <a:p>
            <a:pPr lvl="0"/>
            <a:r>
              <a:rPr lang="en-IN" dirty="0"/>
              <a:t>Compare agricultural profit across states. </a:t>
            </a:r>
          </a:p>
          <a:p>
            <a:pPr lvl="0"/>
            <a:r>
              <a:rPr lang="en-IN" dirty="0"/>
              <a:t>Find useful patterns and insights from the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89511"/>
            <a:ext cx="5552142" cy="1023587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43C2D4-2EA9-7A5F-209B-D142D672F678}"/>
              </a:ext>
            </a:extLst>
          </p:cNvPr>
          <p:cNvSpPr txBox="1"/>
          <p:nvPr/>
        </p:nvSpPr>
        <p:spPr>
          <a:xfrm>
            <a:off x="675957" y="1613097"/>
            <a:ext cx="701576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Seasonal Agriculture Performance Analysis</a:t>
            </a:r>
            <a:r>
              <a:rPr lang="en-IN" sz="2000" dirty="0"/>
              <a:t> is a data analytics project that studies agricultural performance using a dataset of </a:t>
            </a:r>
            <a:r>
              <a:rPr lang="en-IN" sz="2000" b="1" dirty="0"/>
              <a:t>4,000 farm records</a:t>
            </a:r>
            <a:r>
              <a:rPr lang="en-IN" sz="2000" dirty="0"/>
              <a:t>.</a:t>
            </a:r>
          </a:p>
          <a:p>
            <a:r>
              <a:rPr lang="en-IN" sz="2000" dirty="0"/>
              <a:t>The project </a:t>
            </a:r>
            <a:r>
              <a:rPr lang="en-IN" sz="2000" dirty="0" err="1"/>
              <a:t>analyzes</a:t>
            </a:r>
            <a:r>
              <a:rPr lang="en-IN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agricultural seasons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Crop yield and production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Irrigation methods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Water efficiency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Agricultural cost, revenue and profit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State-wise performance </a:t>
            </a:r>
          </a:p>
          <a:p>
            <a:r>
              <a:rPr lang="en-IN" sz="2000" dirty="0"/>
              <a:t>Python libraries such as </a:t>
            </a:r>
            <a:r>
              <a:rPr lang="en-IN" sz="2000" b="1" dirty="0"/>
              <a:t>Pandas, NumPy, Matplotlib and Seaborn</a:t>
            </a:r>
            <a:r>
              <a:rPr lang="en-IN" sz="2000" dirty="0"/>
              <a:t> are used for analysis and visualization.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017059"/>
            <a:ext cx="8530217" cy="3859306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👨‍🌾 </a:t>
            </a:r>
            <a:r>
              <a:rPr lang="en-IN" sz="2400" b="1" dirty="0"/>
              <a:t>Farmers</a:t>
            </a:r>
            <a:r>
              <a:rPr lang="en-IN" sz="2400" dirty="0"/>
              <a:t> – understand crop and irrigation performance. </a:t>
            </a:r>
          </a:p>
          <a:p>
            <a:pPr lvl="0"/>
            <a:r>
              <a:rPr lang="en-IN" sz="2400" dirty="0"/>
              <a:t>🏛️ </a:t>
            </a:r>
            <a:r>
              <a:rPr lang="en-IN" sz="2400" b="1" dirty="0"/>
              <a:t>Agricultural Planners</a:t>
            </a:r>
            <a:r>
              <a:rPr lang="en-IN" sz="2400" dirty="0"/>
              <a:t> – support better planning. </a:t>
            </a:r>
          </a:p>
          <a:p>
            <a:pPr lvl="0"/>
            <a:r>
              <a:rPr lang="en-IN" sz="2400" dirty="0"/>
              <a:t>📊 </a:t>
            </a:r>
            <a:r>
              <a:rPr lang="en-IN" sz="2400" b="1" dirty="0"/>
              <a:t>Researchers</a:t>
            </a:r>
            <a:r>
              <a:rPr lang="en-IN" sz="2400" dirty="0"/>
              <a:t> – study agricultural patterns. </a:t>
            </a:r>
          </a:p>
          <a:p>
            <a:pPr lvl="0"/>
            <a:r>
              <a:rPr lang="en-IN" sz="2400" dirty="0"/>
              <a:t>🌾 </a:t>
            </a:r>
            <a:r>
              <a:rPr lang="en-IN" sz="2400" b="1" dirty="0"/>
              <a:t>Agricultural Organizations</a:t>
            </a:r>
            <a:r>
              <a:rPr lang="en-IN" sz="2400" dirty="0"/>
              <a:t> – compare regional performance. </a:t>
            </a:r>
          </a:p>
          <a:p>
            <a:pPr lvl="0"/>
            <a:r>
              <a:rPr lang="en-IN" sz="2400" dirty="0"/>
              <a:t>🏢 </a:t>
            </a:r>
            <a:r>
              <a:rPr lang="en-IN" sz="2400" b="1" dirty="0"/>
              <a:t>Policy Makers</a:t>
            </a:r>
            <a:r>
              <a:rPr lang="en-IN" sz="2400" dirty="0"/>
              <a:t> – use data-based insights for agriculture planning.</a:t>
            </a:r>
          </a:p>
          <a:p>
            <a:pPr algn="just"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3241" y="1315059"/>
            <a:ext cx="5781583" cy="53914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800" b="1" dirty="0"/>
              <a:t>Programming Language</a:t>
            </a:r>
            <a:endParaRPr lang="en-IN" sz="3800" dirty="0"/>
          </a:p>
          <a:p>
            <a:pPr lvl="0"/>
            <a:r>
              <a:rPr lang="en-IN" sz="3800" dirty="0"/>
              <a:t>Python </a:t>
            </a:r>
          </a:p>
          <a:p>
            <a:pPr marL="0" indent="0">
              <a:buNone/>
            </a:pPr>
            <a:r>
              <a:rPr lang="en-IN" sz="3800" b="1" dirty="0"/>
              <a:t>Libraries</a:t>
            </a:r>
            <a:endParaRPr lang="en-IN" sz="3800" dirty="0"/>
          </a:p>
          <a:p>
            <a:pPr lvl="0"/>
            <a:r>
              <a:rPr lang="en-IN" sz="3800" dirty="0"/>
              <a:t>Pandas </a:t>
            </a:r>
          </a:p>
          <a:p>
            <a:pPr lvl="0"/>
            <a:r>
              <a:rPr lang="en-IN" sz="3800" dirty="0"/>
              <a:t>NumPy </a:t>
            </a:r>
          </a:p>
          <a:p>
            <a:pPr lvl="0"/>
            <a:r>
              <a:rPr lang="en-IN" sz="3800" dirty="0"/>
              <a:t>Matplotlib </a:t>
            </a:r>
          </a:p>
          <a:p>
            <a:pPr lvl="0"/>
            <a:r>
              <a:rPr lang="en-IN" sz="3800" dirty="0"/>
              <a:t>Seaborn </a:t>
            </a:r>
          </a:p>
          <a:p>
            <a:pPr marL="0" indent="0">
              <a:buNone/>
            </a:pPr>
            <a:r>
              <a:rPr lang="en-IN" sz="3800" b="1" dirty="0"/>
              <a:t>Development Environment</a:t>
            </a:r>
          </a:p>
          <a:p>
            <a:pPr lvl="0"/>
            <a:r>
              <a:rPr lang="en-IN" sz="3800" dirty="0"/>
              <a:t>Jupyter Notebook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1617-3FC5-543C-A392-7BE1AC335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09A72-98CD-15BB-CC6A-0742D8AA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88CABB-3C23-C6D4-420F-F677C2E81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538BB2-C643-ABFA-DAE7-783F03B088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3241" y="1315058"/>
            <a:ext cx="6037077" cy="4763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Dataset</a:t>
            </a:r>
            <a:endParaRPr lang="en-IN" sz="2400" dirty="0"/>
          </a:p>
          <a:p>
            <a:pPr lvl="0"/>
            <a:r>
              <a:rPr lang="en-IN" sz="2400" dirty="0"/>
              <a:t>CSV Dataset </a:t>
            </a:r>
          </a:p>
          <a:p>
            <a:pPr marL="0" indent="0">
              <a:buNone/>
            </a:pPr>
            <a:r>
              <a:rPr lang="en-IN" sz="2400" b="1" dirty="0"/>
              <a:t>Analysis Type</a:t>
            </a:r>
            <a:endParaRPr lang="en-IN" sz="2400" dirty="0"/>
          </a:p>
          <a:p>
            <a:pPr lvl="0"/>
            <a:r>
              <a:rPr lang="en-IN" sz="2400" dirty="0"/>
              <a:t>Descriptive Data Analysis </a:t>
            </a:r>
          </a:p>
          <a:p>
            <a:pPr lvl="0"/>
            <a:r>
              <a:rPr lang="en-IN" sz="2400" dirty="0"/>
              <a:t>Statistical Analysis </a:t>
            </a:r>
          </a:p>
          <a:p>
            <a:pPr lvl="0"/>
            <a:r>
              <a:rPr lang="en-IN" sz="2400" dirty="0"/>
              <a:t>Data Visualization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948EFD7-A359-F456-D6FF-EBD98053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323773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45605-3AE4-080D-62AE-3633BC351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3" y="1024037"/>
            <a:ext cx="11498243" cy="45585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92DE2A-C44C-1C88-1226-733C00A661D6}"/>
              </a:ext>
            </a:extLst>
          </p:cNvPr>
          <p:cNvSpPr txBox="1"/>
          <p:nvPr/>
        </p:nvSpPr>
        <p:spPr>
          <a:xfrm>
            <a:off x="1050878" y="5991366"/>
            <a:ext cx="10465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dataset provides information about environmental conditions, farming inputs, yield, water usage and economic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B7D4-4511-9DF1-40E7-67F4D787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D0C66A-4DFE-8E55-7233-9F72AB032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CCA6D4-F11F-DB09-0764-67E585F1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4A267CA-A3E5-1582-E2FE-2FCCEDD8CFA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41FA9A5-D5CF-67E7-FC41-C6819912029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3B6A92D-A845-1B57-4F27-0F3A9D4E6D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960A3A-EA90-6128-265A-483E7619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2" y="960114"/>
            <a:ext cx="9799259" cy="40351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2C567C-A8A1-7A36-3A90-743EFA1D9739}"/>
              </a:ext>
            </a:extLst>
          </p:cNvPr>
          <p:cNvSpPr txBox="1"/>
          <p:nvPr/>
        </p:nvSpPr>
        <p:spPr>
          <a:xfrm>
            <a:off x="320982" y="5020723"/>
            <a:ext cx="8529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Kharif generally shows higher yield than Rabi and Zaid. </a:t>
            </a:r>
          </a:p>
          <a:p>
            <a:pPr lvl="0"/>
            <a:r>
              <a:rPr lang="en-IN" b="1" dirty="0"/>
              <a:t>Sugarcane</a:t>
            </a:r>
            <a:r>
              <a:rPr lang="en-IN" dirty="0"/>
              <a:t> has the highest yield among the crops. </a:t>
            </a:r>
          </a:p>
          <a:p>
            <a:pPr lvl="0"/>
            <a:r>
              <a:rPr lang="en-IN" dirty="0"/>
              <a:t>Yield varies depending on crop and season. </a:t>
            </a:r>
          </a:p>
          <a:p>
            <a:pPr lvl="0"/>
            <a:r>
              <a:rPr lang="en-IN" dirty="0"/>
              <a:t>Crop-specific seasonal differences can help in better crop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2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7949E-573A-5647-1DC8-80598F0E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59996"/>
            <a:ext cx="11550036" cy="4012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C088D8-6B32-0FAA-2682-D177927D7F56}"/>
              </a:ext>
            </a:extLst>
          </p:cNvPr>
          <p:cNvSpPr txBox="1"/>
          <p:nvPr/>
        </p:nvSpPr>
        <p:spPr>
          <a:xfrm>
            <a:off x="504967" y="5328823"/>
            <a:ext cx="8734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Rainfed farming shows the highest average water efficiency. </a:t>
            </a:r>
          </a:p>
          <a:p>
            <a:pPr lvl="0"/>
            <a:r>
              <a:rPr lang="en-IN" dirty="0"/>
              <a:t>Drip irrigation has better efficiency than flood irrigation. </a:t>
            </a:r>
          </a:p>
          <a:p>
            <a:pPr lvl="0"/>
            <a:r>
              <a:rPr lang="en-IN" dirty="0"/>
              <a:t>Flood irrigation shows the lowest water efficiency. </a:t>
            </a:r>
          </a:p>
          <a:p>
            <a:pPr lvl="0"/>
            <a:r>
              <a:rPr lang="en-IN" dirty="0"/>
              <a:t>Irrigation method has an important relationship with water use and yield.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4038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B6FC2-2418-531A-D9A7-593B5AAF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905526"/>
            <a:ext cx="11550036" cy="4185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C8379-65A6-53ED-8C7C-FFB3911E5BEA}"/>
              </a:ext>
            </a:extLst>
          </p:cNvPr>
          <p:cNvSpPr txBox="1"/>
          <p:nvPr/>
        </p:nvSpPr>
        <p:spPr>
          <a:xfrm>
            <a:off x="504967" y="5090564"/>
            <a:ext cx="87482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Punjab has the highest average profit. </a:t>
            </a:r>
          </a:p>
          <a:p>
            <a:pPr lvl="0"/>
            <a:r>
              <a:rPr lang="en-IN" dirty="0"/>
              <a:t>Maharashtra has almost similar average profit. </a:t>
            </a:r>
          </a:p>
          <a:p>
            <a:pPr lvl="0"/>
            <a:r>
              <a:rPr lang="en-IN" dirty="0"/>
              <a:t>Karnataka, Tamil Nadu and Gujarat show moderate performance. </a:t>
            </a:r>
          </a:p>
          <a:p>
            <a:pPr lvl="0"/>
            <a:r>
              <a:rPr lang="en-IN" dirty="0"/>
              <a:t>Andhra Pradesh has the lowest average profit among the </a:t>
            </a:r>
            <a:r>
              <a:rPr lang="en-IN" dirty="0" err="1"/>
              <a:t>analyzed</a:t>
            </a:r>
            <a:r>
              <a:rPr lang="en-IN" dirty="0"/>
              <a:t> states. </a:t>
            </a:r>
          </a:p>
          <a:p>
            <a:pPr lvl="0"/>
            <a:r>
              <a:rPr lang="en-IN" dirty="0"/>
              <a:t>Agricultural profitability differs across states.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1815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89FBD-BB0E-932C-B89A-A2BD6A12F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69" y="867618"/>
            <a:ext cx="6420527" cy="5797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CFDE6-CD92-2AC4-74CE-8C39570C920C}"/>
              </a:ext>
            </a:extLst>
          </p:cNvPr>
          <p:cNvSpPr txBox="1"/>
          <p:nvPr/>
        </p:nvSpPr>
        <p:spPr>
          <a:xfrm>
            <a:off x="7315683" y="1275371"/>
            <a:ext cx="374510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Findings:</a:t>
            </a:r>
            <a:endParaRPr lang="en-IN" sz="2000" dirty="0"/>
          </a:p>
          <a:p>
            <a:pPr lvl="0"/>
            <a:r>
              <a:rPr lang="en-IN" sz="2000" b="1" dirty="0"/>
              <a:t>Kharif</a:t>
            </a:r>
            <a:r>
              <a:rPr lang="en-IN" sz="2000" dirty="0"/>
              <a:t> has the highest number of records (</a:t>
            </a:r>
            <a:r>
              <a:rPr lang="en-IN" sz="2000" b="1" dirty="0"/>
              <a:t>44.5%</a:t>
            </a:r>
            <a:r>
              <a:rPr lang="en-IN" sz="2000" dirty="0"/>
              <a:t>). </a:t>
            </a:r>
          </a:p>
          <a:p>
            <a:pPr lvl="0"/>
            <a:r>
              <a:rPr lang="en-IN" sz="2000" b="1" dirty="0"/>
              <a:t>Rabi</a:t>
            </a:r>
            <a:r>
              <a:rPr lang="en-IN" sz="2000" dirty="0"/>
              <a:t> represents </a:t>
            </a:r>
            <a:r>
              <a:rPr lang="en-IN" sz="2000" b="1" dirty="0"/>
              <a:t>40.7%</a:t>
            </a:r>
            <a:r>
              <a:rPr lang="en-IN" sz="2000" dirty="0"/>
              <a:t> of the records. </a:t>
            </a:r>
          </a:p>
          <a:p>
            <a:pPr lvl="0"/>
            <a:r>
              <a:rPr lang="en-IN" sz="2000" b="1" dirty="0"/>
              <a:t>Zaid</a:t>
            </a:r>
            <a:r>
              <a:rPr lang="en-IN" sz="2000" dirty="0"/>
              <a:t> has the lowest share (</a:t>
            </a:r>
            <a:r>
              <a:rPr lang="en-IN" sz="2000" b="1" dirty="0"/>
              <a:t>14.8%</a:t>
            </a:r>
            <a:r>
              <a:rPr lang="en-IN" sz="2000" dirty="0"/>
              <a:t>). </a:t>
            </a:r>
          </a:p>
          <a:p>
            <a:pPr lvl="0"/>
            <a:r>
              <a:rPr lang="en-IN" sz="2000" dirty="0"/>
              <a:t>The dataset contains more records for Kharif and Rabi seasons than Zaid.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EFCDB-0768-F3C4-38E3-172A1BBD271F}"/>
              </a:ext>
            </a:extLst>
          </p:cNvPr>
          <p:cNvSpPr txBox="1"/>
          <p:nvPr/>
        </p:nvSpPr>
        <p:spPr>
          <a:xfrm>
            <a:off x="457200" y="1201585"/>
            <a:ext cx="642769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Scope</a:t>
            </a:r>
          </a:p>
          <a:p>
            <a:r>
              <a:rPr lang="en-IN" sz="2400" dirty="0"/>
              <a:t>The project can be improved in the future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more recent agricultural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Including more states and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weather and market-price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Building an interactive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Machine Learning for yield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Developing a system for crop and irrigation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10427-8FEF-B757-D69B-6F4B0378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15" y="1439417"/>
            <a:ext cx="10716325" cy="53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1213440"/>
            <a:ext cx="11340000" cy="13857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92775" y="2653963"/>
            <a:ext cx="8189258" cy="1707776"/>
          </a:xfrm>
        </p:spPr>
        <p:txBody>
          <a:bodyPr>
            <a:normAutofit/>
          </a:bodyPr>
          <a:lstStyle/>
          <a:p>
            <a:r>
              <a:rPr lang="en-IN" dirty="0"/>
              <a:t>Seasonal Agriculture Performance Analysis</a:t>
            </a:r>
          </a:p>
          <a:p>
            <a:r>
              <a:rPr lang="en-IN" dirty="0"/>
              <a:t>Raj Yadav</a:t>
            </a:r>
            <a:br>
              <a:rPr lang="en-IN" dirty="0"/>
            </a:br>
            <a:r>
              <a:rPr lang="en-IN" dirty="0"/>
              <a:t>B.Tech CSE (AI &amp; ML)</a:t>
            </a:r>
            <a:br>
              <a:rPr lang="en-IN" dirty="0"/>
            </a:br>
            <a:r>
              <a:rPr lang="en-IN" dirty="0"/>
              <a:t>Anand Engineering College, Agra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633</TotalTime>
  <Words>547</Words>
  <Application>Microsoft Office PowerPoint</Application>
  <PresentationFormat>Widescreen</PresentationFormat>
  <Paragraphs>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</vt:lpstr>
      <vt:lpstr>WHO ARE THE END USERS?</vt:lpstr>
      <vt:lpstr>Technology Used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Raj Yadav</cp:lastModifiedBy>
  <cp:revision>98</cp:revision>
  <dcterms:created xsi:type="dcterms:W3CDTF">2021-07-11T13:13:15Z</dcterms:created>
  <dcterms:modified xsi:type="dcterms:W3CDTF">2026-09-09T09:01:32Z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